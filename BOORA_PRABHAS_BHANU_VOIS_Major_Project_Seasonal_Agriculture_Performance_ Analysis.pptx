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21"/>
  </p:notesMasterIdLst>
  <p:handoutMasterIdLst>
    <p:handoutMasterId r:id="rId22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8" r:id="rId11"/>
    <p:sldId id="344" r:id="rId12"/>
    <p:sldId id="345" r:id="rId13"/>
    <p:sldId id="346" r:id="rId14"/>
    <p:sldId id="347" r:id="rId15"/>
    <p:sldId id="349" r:id="rId16"/>
    <p:sldId id="341" r:id="rId17"/>
    <p:sldId id="342" r:id="rId18"/>
    <p:sldId id="343" r:id="rId19"/>
    <p:sldId id="30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>
        <p:scale>
          <a:sx n="107" d="100"/>
          <a:sy n="107" d="100"/>
        </p:scale>
        <p:origin x="245" y="-91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9/6/2026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9/6/2026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5957" y="3521161"/>
            <a:ext cx="6839268" cy="86149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0" dirty="0">
                <a:solidFill>
                  <a:schemeClr val="tx1"/>
                </a:solidFill>
              </a:rPr>
              <a:t>[Boora Prabhas Bhanu</a:t>
            </a:r>
            <a:endParaRPr lang="en-IN" b="0" dirty="0">
              <a:solidFill>
                <a:schemeClr val="tx1"/>
              </a:solidFill>
            </a:endParaRPr>
          </a:p>
          <a:p>
            <a:r>
              <a:rPr lang="en-US" b="0" dirty="0">
                <a:solidFill>
                  <a:schemeClr val="tx1"/>
                </a:solidFill>
              </a:rPr>
              <a:t>- </a:t>
            </a:r>
            <a:r>
              <a:rPr lang="en-US" b="0" dirty="0" err="1">
                <a:solidFill>
                  <a:schemeClr val="tx1"/>
                </a:solidFill>
              </a:rPr>
              <a:t>Kalasalingam</a:t>
            </a:r>
            <a:r>
              <a:rPr lang="en-US" b="0" dirty="0">
                <a:solidFill>
                  <a:schemeClr val="tx1"/>
                </a:solidFill>
              </a:rPr>
              <a:t> Academy of Research and Education]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63" y="2844750"/>
            <a:ext cx="8494211" cy="743448"/>
          </a:xfrm>
        </p:spPr>
        <p:txBody>
          <a:bodyPr>
            <a:normAutofit/>
          </a:bodyPr>
          <a:lstStyle/>
          <a:p>
            <a:r>
              <a:rPr lang="en-GB" sz="3200" dirty="0"/>
              <a:t>Seasonal Agriculture Performance Analysis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675957" y="4457792"/>
            <a:ext cx="50004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: </a:t>
            </a:r>
            <a:r>
              <a:rPr lang="en-IN" b="1" dirty="0"/>
              <a:t>STU6a5e78341a5d61784576052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2800" dirty="0"/>
              <a:t>Agricultural performance is shaped by seasonal shifts in rainfall, temperature, soil conditions, resource use, and market prices.</a:t>
            </a:r>
          </a:p>
          <a:p>
            <a:pPr>
              <a:spcAft>
                <a:spcPts val="800"/>
              </a:spcAft>
            </a:pPr>
            <a:r>
              <a:rPr lang="en-US" sz="2800" dirty="0"/>
              <a:t>Raw seasonal agriculture data does not, on its own, reveal how performance changes across the Kharif, Rabi, and Zaid seasons.</a:t>
            </a:r>
          </a:p>
          <a:p>
            <a:pPr>
              <a:spcAft>
                <a:spcPts val="800"/>
              </a:spcAft>
            </a:pPr>
            <a:r>
              <a:rPr lang="en-US" sz="2800" dirty="0"/>
              <a:t>This project analyzes a 4,000-record seasonal agriculture dataset to uncover meaningful patterns, trends, and relationships in crop yield, resource usage, and profitability across seasons, regions, and crops.</a:t>
            </a:r>
          </a:p>
          <a:p>
            <a:pPr>
              <a:lnSpc>
                <a:spcPct val="150000"/>
              </a:lnSpc>
            </a:pP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59" y="450215"/>
            <a:ext cx="9533891" cy="4981225"/>
          </a:xfrm>
        </p:spPr>
        <p:txBody>
          <a:bodyPr>
            <a:noAutofit/>
          </a:bodyPr>
          <a:lstStyle/>
          <a:p>
            <a:pPr>
              <a:spcAft>
                <a:spcPts val="800"/>
              </a:spcAft>
            </a:pPr>
            <a:r>
              <a:rPr lang="en-GB" dirty="0"/>
              <a:t>Project Description</a:t>
            </a:r>
            <a:br>
              <a:rPr lang="en-GB" dirty="0"/>
            </a:br>
            <a:br>
              <a:rPr lang="en-GB" sz="1400" dirty="0"/>
            </a:br>
            <a:r>
              <a:rPr lang="en-US" sz="2000" b="0" dirty="0"/>
              <a:t>•  Dataset: 4,000 farm records across 8 Indian states, covering 8 crops and 3 seasons (Kharif, Rabi, Zaid), with 28 attributes spanning environment, inputs, and economics.</a:t>
            </a:r>
            <a:br>
              <a:rPr lang="en-US" sz="2000" b="0" dirty="0"/>
            </a:br>
            <a:r>
              <a:rPr lang="en-US" sz="2000" b="0" dirty="0"/>
              <a:t>•  Data Cleaning: Median imputation applied to missing values in </a:t>
            </a:r>
            <a:r>
              <a:rPr lang="en-US" sz="2000" b="0" dirty="0" err="1"/>
              <a:t>Rainfall_mm</a:t>
            </a:r>
            <a:r>
              <a:rPr lang="en-US" sz="2000" b="0" dirty="0"/>
              <a:t>, </a:t>
            </a:r>
            <a:r>
              <a:rPr lang="en-US" sz="2000" b="0" dirty="0" err="1"/>
              <a:t>Soil_Moisture_pct</a:t>
            </a:r>
            <a:r>
              <a:rPr lang="en-US" sz="2000" b="0" dirty="0"/>
              <a:t>, and </a:t>
            </a:r>
            <a:r>
              <a:rPr lang="en-US" sz="2000" b="0" dirty="0" err="1"/>
              <a:t>Yield_Tonnes_Ha</a:t>
            </a:r>
            <a:r>
              <a:rPr lang="en-US" sz="2000" b="0" dirty="0"/>
              <a:t> (120 missing values total).</a:t>
            </a:r>
            <a:br>
              <a:rPr lang="en-US" sz="2000" b="0" dirty="0"/>
            </a:br>
            <a:r>
              <a:rPr lang="en-US" sz="2000" b="0" dirty="0"/>
              <a:t>•  Exploratory Analysis: Compared yield and profit across seasons; examined water usage by irrigation method; built a correlation heatmap of all numeric features.</a:t>
            </a:r>
            <a:br>
              <a:rPr lang="en-US" sz="2000" b="0" dirty="0"/>
            </a:br>
            <a:r>
              <a:rPr lang="en-US" sz="2000" b="0" dirty="0"/>
              <a:t>•  Statistical Testing: One-way ANOVA to test whether yield and profit differences across seasons are statistically significant.</a:t>
            </a:r>
            <a:br>
              <a:rPr lang="en-US" sz="2000" b="0" dirty="0"/>
            </a:br>
            <a:r>
              <a:rPr lang="en-US" sz="2000" b="0" dirty="0"/>
              <a:t>•  Regional &amp; Crop Analysis: State-wise and crop-wise breakdowns to check whether seasonal patterns are consistent across regions and crop types.</a:t>
            </a:r>
            <a:br>
              <a:rPr lang="en-US" sz="2000" b="0" dirty="0"/>
            </a:br>
            <a:r>
              <a:rPr lang="en-US" sz="2000" b="0" dirty="0"/>
              <a:t>•  Predictive Modeling: Random Forest Regressor to predict crop yield from environmental and farming inputs, with feature importance analysis to identify key yield drivers.</a:t>
            </a:r>
            <a:br>
              <a:rPr lang="en-US" sz="2000" b="0" dirty="0"/>
            </a:br>
            <a:br>
              <a:rPr lang="en-GB" sz="2000" b="0" dirty="0"/>
            </a:br>
            <a:r>
              <a:rPr lang="en-GB" sz="2000" b="0" dirty="0"/>
              <a:t> </a:t>
            </a:r>
            <a:br>
              <a:rPr lang="en-GB" sz="2000" b="0" dirty="0"/>
            </a:br>
            <a:endParaRPr lang="en-IN" sz="2000" b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US" sz="1800" dirty="0"/>
              <a:t>Farmers &amp; Farmer Producer Organizations (FPOs) — plan crop and season choices using data-backed seasonal trends.</a:t>
            </a:r>
          </a:p>
          <a:p>
            <a:pPr>
              <a:spcAft>
                <a:spcPts val="800"/>
              </a:spcAft>
            </a:pPr>
            <a:r>
              <a:rPr lang="en-US" sz="1800" dirty="0"/>
              <a:t>State Agriculture Departments — design season-specific policies and support programs based on regional performance gaps.</a:t>
            </a:r>
          </a:p>
          <a:p>
            <a:pPr>
              <a:spcAft>
                <a:spcPts val="800"/>
              </a:spcAft>
            </a:pPr>
            <a:r>
              <a:rPr lang="en-US" sz="1800" dirty="0"/>
              <a:t>Agri businesses &amp; Agri-input Companies — target irrigation, fertilizer, and seed products to seasons/regions where they add the most value.</a:t>
            </a:r>
          </a:p>
          <a:p>
            <a:pPr>
              <a:spcAft>
                <a:spcPts val="800"/>
              </a:spcAft>
            </a:pPr>
            <a:r>
              <a:rPr lang="en-US" sz="1800" dirty="0"/>
              <a:t>Agricultural Researchers &amp; Academic Institutions — use the findings as a base for deeper seasonal or crop-specific studies.</a:t>
            </a:r>
          </a:p>
          <a:p>
            <a:pPr>
              <a:spcAft>
                <a:spcPts val="800"/>
              </a:spcAft>
            </a:pPr>
            <a:r>
              <a:rPr lang="en-US" sz="1800" dirty="0"/>
              <a:t>Agri-fintech &amp; Crop Insurance Providers — use seasonal profit variability to inform risk assessment and insurance pricing.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43062" y="807276"/>
            <a:ext cx="7775257" cy="5243448"/>
          </a:xfrm>
        </p:spPr>
        <p:txBody>
          <a:bodyPr>
            <a:noAutofit/>
          </a:bodyPr>
          <a:lstStyle/>
          <a:p>
            <a:pPr marL="457200" lvl="1" indent="0">
              <a:lnSpc>
                <a:spcPct val="150000"/>
              </a:lnSpc>
              <a:spcAft>
                <a:spcPts val="800"/>
              </a:spcAft>
              <a:buNone/>
            </a:pPr>
            <a:endParaRPr lang="en-IN" sz="1800" dirty="0"/>
          </a:p>
          <a:p>
            <a:pPr>
              <a:spcAft>
                <a:spcPts val="800"/>
              </a:spcAft>
            </a:pPr>
            <a:r>
              <a:rPr lang="en-IN" sz="1800" dirty="0"/>
              <a:t>Language: Python 3</a:t>
            </a:r>
          </a:p>
          <a:p>
            <a:pPr>
              <a:spcAft>
                <a:spcPts val="800"/>
              </a:spcAft>
            </a:pPr>
            <a:r>
              <a:rPr lang="en-IN" sz="1800" dirty="0"/>
              <a:t>Data Handling: pandas, </a:t>
            </a:r>
            <a:r>
              <a:rPr lang="en-IN" sz="1800" dirty="0" err="1"/>
              <a:t>numpy</a:t>
            </a:r>
            <a:endParaRPr lang="en-IN" sz="1800" dirty="0"/>
          </a:p>
          <a:p>
            <a:pPr>
              <a:spcAft>
                <a:spcPts val="800"/>
              </a:spcAft>
            </a:pPr>
            <a:r>
              <a:rPr lang="en-IN" sz="1800" dirty="0"/>
              <a:t>Visualization: matplotlib, seaborn</a:t>
            </a:r>
          </a:p>
          <a:p>
            <a:pPr>
              <a:spcAft>
                <a:spcPts val="800"/>
              </a:spcAft>
            </a:pPr>
            <a:r>
              <a:rPr lang="en-IN" sz="1800" dirty="0"/>
              <a:t>Statistical Testing: </a:t>
            </a:r>
            <a:r>
              <a:rPr lang="en-IN" sz="1800" dirty="0" err="1"/>
              <a:t>scipy</a:t>
            </a:r>
            <a:r>
              <a:rPr lang="en-IN" sz="1800" dirty="0"/>
              <a:t> (ANOVA)</a:t>
            </a:r>
          </a:p>
          <a:p>
            <a:pPr>
              <a:spcAft>
                <a:spcPts val="800"/>
              </a:spcAft>
            </a:pPr>
            <a:r>
              <a:rPr lang="en-IN" sz="1800" dirty="0"/>
              <a:t>Machine Learning: scikit-learn (Random Forest Regressor, </a:t>
            </a:r>
            <a:r>
              <a:rPr lang="en-IN" sz="1800" dirty="0" err="1"/>
              <a:t>StandardScaler</a:t>
            </a:r>
            <a:r>
              <a:rPr lang="en-IN" sz="1800" dirty="0"/>
              <a:t>, </a:t>
            </a:r>
            <a:r>
              <a:rPr lang="en-IN" sz="1800" dirty="0" err="1"/>
              <a:t>OneHotEncoder</a:t>
            </a:r>
            <a:r>
              <a:rPr lang="en-IN" sz="1800" dirty="0"/>
              <a:t>, Pipeline)</a:t>
            </a:r>
          </a:p>
          <a:p>
            <a:pPr>
              <a:spcAft>
                <a:spcPts val="800"/>
              </a:spcAft>
            </a:pPr>
            <a:r>
              <a:rPr lang="en-IN" sz="1800" dirty="0"/>
              <a:t>Environment: </a:t>
            </a:r>
            <a:r>
              <a:rPr lang="en-IN" sz="1800" dirty="0" err="1"/>
              <a:t>Jupyter</a:t>
            </a:r>
            <a:r>
              <a:rPr lang="en-IN" sz="1800" dirty="0"/>
              <a:t> Notebook</a:t>
            </a:r>
          </a:p>
          <a:p>
            <a:pPr>
              <a:spcAft>
                <a:spcPts val="800"/>
              </a:spcAft>
            </a:pPr>
            <a:r>
              <a:rPr lang="en-IN" sz="1800" dirty="0"/>
              <a:t>Version Control &amp; Submission: Git, GitHub</a:t>
            </a:r>
          </a:p>
          <a:p>
            <a:pPr lvl="1">
              <a:lnSpc>
                <a:spcPct val="150000"/>
              </a:lnSpc>
            </a:pPr>
            <a:endParaRPr lang="en-IN" sz="180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296721"/>
            <a:ext cx="10353993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RESULTS: Yield &amp; Profit Across Seasons 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2521805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546717-122C-453E-08BC-BD67F4A9CF2D}"/>
              </a:ext>
            </a:extLst>
          </p:cNvPr>
          <p:cNvSpPr txBox="1"/>
          <p:nvPr/>
        </p:nvSpPr>
        <p:spPr>
          <a:xfrm>
            <a:off x="749660" y="1275371"/>
            <a:ext cx="77108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i="1" dirty="0"/>
              <a:t>Kharif shows the highest average yield and profit; Zaid the lowest.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4570B3-F56C-359F-56BE-EA892EC221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660" y="2023208"/>
            <a:ext cx="8265399" cy="4366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D99A4-7891-752C-9A5F-18F4C8FA5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401F260-78BC-DC61-FCC6-62676C417FB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80AFE56-815F-4507-2DCC-083F9BE9F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185698"/>
            <a:ext cx="10353993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RESULTS: Yield &amp; Profit Across Seasons 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B7A5610-71B3-5374-CE97-D8A4567BD504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52E2FBF-3B30-5C8A-90AE-FAEB24D4FC2A}"/>
              </a:ext>
            </a:extLst>
          </p:cNvPr>
          <p:cNvSpPr txBox="1">
            <a:spLocks/>
          </p:cNvSpPr>
          <p:nvPr/>
        </p:nvSpPr>
        <p:spPr>
          <a:xfrm>
            <a:off x="2521805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9D2705-1570-BE40-CAF7-C05E254C9271}"/>
              </a:ext>
            </a:extLst>
          </p:cNvPr>
          <p:cNvSpPr txBox="1"/>
          <p:nvPr/>
        </p:nvSpPr>
        <p:spPr>
          <a:xfrm>
            <a:off x="740695" y="1090705"/>
            <a:ext cx="77108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i="1" dirty="0"/>
              <a:t>Kharif shows the highest average yield and profit; Zaid the lowest.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6E5DB66-639B-0E48-805C-D6601BBC3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2023209"/>
            <a:ext cx="8696643" cy="436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663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3" y="373846"/>
            <a:ext cx="11110352" cy="830997"/>
          </a:xfrm>
        </p:spPr>
        <p:txBody>
          <a:bodyPr>
            <a:noAutofit/>
          </a:bodyPr>
          <a:lstStyle/>
          <a:p>
            <a:r>
              <a:rPr lang="en-GB" sz="4300" dirty="0"/>
              <a:t>RESULTS: Water Usage by Season &amp; Irrigation Method</a:t>
            </a:r>
            <a:br>
              <a:rPr lang="en-IN" sz="4300" dirty="0"/>
            </a:br>
            <a:r>
              <a:rPr lang="en-GB" sz="4300" dirty="0"/>
              <a:t>  </a:t>
            </a:r>
            <a:endParaRPr lang="en-IN" sz="43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0C4579-FB7E-928A-6659-2F6446B62595}"/>
              </a:ext>
            </a:extLst>
          </p:cNvPr>
          <p:cNvSpPr txBox="1"/>
          <p:nvPr/>
        </p:nvSpPr>
        <p:spPr>
          <a:xfrm>
            <a:off x="857531" y="2011977"/>
            <a:ext cx="98213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i="1" dirty="0"/>
              <a:t>Flood irrigation consumes the most water in every season; Rainfed is most water-efficient.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5DE8BC-E4FD-6A56-4BCD-E40B3C9ABF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118" y="2886634"/>
            <a:ext cx="8525436" cy="3662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9576" y="241599"/>
            <a:ext cx="11181669" cy="830997"/>
          </a:xfrm>
        </p:spPr>
        <p:txBody>
          <a:bodyPr>
            <a:noAutofit/>
          </a:bodyPr>
          <a:lstStyle/>
          <a:p>
            <a:r>
              <a:rPr lang="en-GB" sz="4300" dirty="0"/>
              <a:t>RESULTS : Correlation Heatmap of Agricultural Parameters </a:t>
            </a:r>
            <a:endParaRPr lang="en-IN" sz="43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98949" y="1905464"/>
            <a:ext cx="10037049" cy="4775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i="1" dirty="0"/>
              <a:t>Yield, Production, Revenue, and Profit are strongly inter-correlated.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CE419F-8F16-FB16-78A4-378BA16D3D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1" y="2501153"/>
            <a:ext cx="8222875" cy="4115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11516043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RESULTS: Regional &amp; Crop-wise Yield Patterns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5957" y="1941449"/>
            <a:ext cx="11355189" cy="477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i="1" dirty="0"/>
              <a:t>Punjab peaks in Rabi (exception to the general trend.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770A074-B80E-A2B6-62C6-651797BECB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275" y="2315700"/>
            <a:ext cx="8072438" cy="3699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1DAE8-A5D0-0459-4660-8B2639411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4AB58F6-875B-EBEA-C2D1-ABC94DEF359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8E1627D-D415-CB95-7553-1F689E964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11516043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RESULTS: Regional &amp; Crop-wise Yield Patterns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E8E8E5D0-65F0-F250-344A-F23740698446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583A2D11-7414-9D3C-5F01-405E927BE06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4946CA46-8207-91A0-5E0D-EC6C49DDAC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83534" y="1836266"/>
            <a:ext cx="5097314" cy="477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i="1" dirty="0"/>
              <a:t>Sugarcane yields dwarf all other crops.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6E0712-EC63-7DA2-78A1-730220255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113" y="2389484"/>
            <a:ext cx="8415337" cy="3896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390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0ABE4-66F3-956E-13E4-A5D8A8930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1731FA0-1D87-9EC6-1861-F3E01416E3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ED871DEA-A4CA-343A-4D94-59218A579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11516043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RESULTS: Model Performance &amp; Feature Importance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2BA7D39-7B46-96DD-8AC1-B1C69221C08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448E6B3D-A851-0AAB-B28D-820B14F2AB84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7A7B0BCF-F853-4054-0B15-D9831685ED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5957" y="1649621"/>
            <a:ext cx="11355189" cy="477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Random Forest Regressor: R2 = 0.9623, RMSE = 2.70, MAE = 0.77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2800162-2FCB-5013-8188-7A6841ACF3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731" y="2127141"/>
            <a:ext cx="8436293" cy="420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197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3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B4A124-5253-58ED-B2AC-4045D158EAE2}"/>
              </a:ext>
            </a:extLst>
          </p:cNvPr>
          <p:cNvSpPr txBox="1"/>
          <p:nvPr/>
        </p:nvSpPr>
        <p:spPr>
          <a:xfrm>
            <a:off x="675957" y="1400239"/>
            <a:ext cx="9010968" cy="4057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lang="en-US" sz="1800" dirty="0"/>
              <a:t>•  Integrate live weather and satellite rainfall data (via APIs) for real-time seasonal forecasting rather than historical averages alone.</a:t>
            </a:r>
          </a:p>
          <a:p>
            <a:pPr>
              <a:spcAft>
                <a:spcPts val="1000"/>
              </a:spcAft>
            </a:pPr>
            <a:r>
              <a:rPr lang="en-US" sz="1800" dirty="0"/>
              <a:t>•  Deploy the yield-prediction model as a web dashboard so farmers/officials can get season-specific yield estimates for their state and crop.</a:t>
            </a:r>
          </a:p>
          <a:p>
            <a:pPr>
              <a:spcAft>
                <a:spcPts val="1000"/>
              </a:spcAft>
            </a:pPr>
            <a:r>
              <a:rPr lang="en-US" sz="1800" dirty="0"/>
              <a:t>•  Extend the analysis to the district level for more granular, location-specific recommendations.</a:t>
            </a:r>
          </a:p>
          <a:p>
            <a:pPr>
              <a:spcAft>
                <a:spcPts val="1000"/>
              </a:spcAft>
            </a:pPr>
            <a:r>
              <a:rPr lang="en-US" sz="1800" dirty="0"/>
              <a:t>•  Build a crop-recommendation system that suggests the most profitable crop for a given season, region, and soil condition.</a:t>
            </a:r>
          </a:p>
          <a:p>
            <a:pPr>
              <a:spcAft>
                <a:spcPts val="1000"/>
              </a:spcAft>
            </a:pPr>
            <a:r>
              <a:rPr lang="en-US" sz="1800" dirty="0"/>
              <a:t>•  Apply time-series forecasting (e.g. ARIMA, Prophet) to project future seasonal trends using multi-year data.</a:t>
            </a:r>
          </a:p>
          <a:p>
            <a:pPr>
              <a:spcAft>
                <a:spcPts val="1000"/>
              </a:spcAft>
            </a:pPr>
            <a:r>
              <a:rPr lang="en-US" sz="1800" dirty="0"/>
              <a:t>•  Incorporate market price forecasting to strengthen the economic/profit-side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2D07EA-F46A-13DA-4ACD-339E82CC91E3}"/>
              </a:ext>
            </a:extLst>
          </p:cNvPr>
          <p:cNvSpPr txBox="1"/>
          <p:nvPr/>
        </p:nvSpPr>
        <p:spPr>
          <a:xfrm>
            <a:off x="675956" y="2398603"/>
            <a:ext cx="97253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0070C0"/>
                </a:solidFill>
              </a:rPr>
              <a:t>https://github.com/PRABHASBHANUBOORA/Seasonal-Agriculture-Performance-Analysis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9E975B-D70A-6D7C-4C7F-A4269A0DC09F}"/>
              </a:ext>
            </a:extLst>
          </p:cNvPr>
          <p:cNvSpPr txBox="1"/>
          <p:nvPr/>
        </p:nvSpPr>
        <p:spPr>
          <a:xfrm>
            <a:off x="667114" y="3244334"/>
            <a:ext cx="92690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The above GitHub link consists of Agriculture Dataset, </a:t>
            </a:r>
            <a:r>
              <a:rPr lang="en-IN" dirty="0" err="1"/>
              <a:t>ipynb</a:t>
            </a:r>
            <a:r>
              <a:rPr lang="en-IN" dirty="0"/>
              <a:t> file of </a:t>
            </a:r>
            <a:r>
              <a:rPr lang="en-GB" dirty="0"/>
              <a:t>Seasonal Agriculture</a:t>
            </a:r>
          </a:p>
          <a:p>
            <a:r>
              <a:rPr lang="en-GB" dirty="0"/>
              <a:t> Performance Analysis.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EB3A36-C43E-B99C-3CD4-4CC1CDF2F0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625" y="1468410"/>
            <a:ext cx="9664925" cy="519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09410" y="3363868"/>
            <a:ext cx="11340000" cy="700114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921200" y="406398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96371" y="3891775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832026" y="3891774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138863" y="4571127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634226" y="4571127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718820" y="6401122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637</TotalTime>
  <Words>736</Words>
  <Application>Microsoft Office PowerPoint</Application>
  <PresentationFormat>Widescreen</PresentationFormat>
  <Paragraphs>52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Trebuchet MS</vt:lpstr>
      <vt:lpstr>Wingdings</vt:lpstr>
      <vt:lpstr>Wingdings 3</vt:lpstr>
      <vt:lpstr>Facet</vt:lpstr>
      <vt:lpstr>Seasonal Agriculture Performance Analysis</vt:lpstr>
      <vt:lpstr>PROBLEM  STATEMENT</vt:lpstr>
      <vt:lpstr>Project Description  •  Dataset: 4,000 farm records across 8 Indian states, covering 8 crops and 3 seasons (Kharif, Rabi, Zaid), with 28 attributes spanning environment, inputs, and economics. •  Data Cleaning: Median imputation applied to missing values in Rainfall_mm, Soil_Moisture_pct, and Yield_Tonnes_Ha (120 missing values total). •  Exploratory Analysis: Compared yield and profit across seasons; examined water usage by irrigation method; built a correlation heatmap of all numeric features. •  Statistical Testing: One-way ANOVA to test whether yield and profit differences across seasons are statistically significant. •  Regional &amp; Crop Analysis: State-wise and crop-wise breakdowns to check whether seasonal patterns are consistent across regions and crop types. •  Predictive Modeling: Random Forest Regressor to predict crop yield from environmental and farming inputs, with feature importance analysis to identify key yield drivers.    </vt:lpstr>
      <vt:lpstr>WHO ARE THE END USERS?</vt:lpstr>
      <vt:lpstr>Technology Used</vt:lpstr>
      <vt:lpstr>RESULTS: Yield &amp; Profit Across Seasons  </vt:lpstr>
      <vt:lpstr>RESULTS: Yield &amp; Profit Across Seasons  </vt:lpstr>
      <vt:lpstr>RESULTS: Water Usage by Season &amp; Irrigation Method   </vt:lpstr>
      <vt:lpstr>RESULTS : Correlation Heatmap of Agricultural Parameters </vt:lpstr>
      <vt:lpstr>RESULTS: Regional &amp; Crop-wise Yield Patterns </vt:lpstr>
      <vt:lpstr>RESULTS: Regional &amp; Crop-wise Yield Patterns </vt:lpstr>
      <vt:lpstr>RESULTS: Model Performance &amp; Feature Importance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Prabhas B</cp:lastModifiedBy>
  <cp:revision>112</cp:revision>
  <dcterms:created xsi:type="dcterms:W3CDTF">2021-07-11T13:13:15Z</dcterms:created>
  <dcterms:modified xsi:type="dcterms:W3CDTF">2026-09-06T17:58:06Z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